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Supriya-2604/Seasonal_Agriculture_Performance_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521161"/>
            <a:ext cx="9186500" cy="861497"/>
          </a:xfrm>
        </p:spPr>
        <p:txBody>
          <a:bodyPr vert="horz" lIns="91440" tIns="45720" rIns="91440" bIns="45720" rtlCol="0" anchor="t">
            <a:normAutofit/>
          </a:bodyPr>
          <a:lstStyle/>
          <a:p>
            <a:r>
              <a:rPr lang="en-US" dirty="0">
                <a:solidFill>
                  <a:schemeClr val="tx1"/>
                </a:solidFill>
                <a:latin typeface="Times New Roman" panose="02020603050405020304" pitchFamily="18" charset="0"/>
                <a:cs typeface="Times New Roman" panose="02020603050405020304" pitchFamily="18" charset="0"/>
              </a:rPr>
              <a:t>Student Name</a:t>
            </a:r>
            <a:r>
              <a:rPr lang="en-US" b="0" dirty="0">
                <a:solidFill>
                  <a:schemeClr val="tx1"/>
                </a:solidFill>
                <a:latin typeface="Times New Roman" panose="02020603050405020304" pitchFamily="18" charset="0"/>
                <a:cs typeface="Times New Roman" panose="02020603050405020304" pitchFamily="18" charset="0"/>
              </a:rPr>
              <a:t>: Supriya Enjam </a:t>
            </a:r>
            <a:endParaRPr lang="en-IN" b="0"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College Name</a:t>
            </a:r>
            <a:r>
              <a:rPr lang="en-US" b="0" dirty="0">
                <a:solidFill>
                  <a:schemeClr val="tx1"/>
                </a:solidFill>
                <a:latin typeface="Times New Roman" panose="02020603050405020304" pitchFamily="18" charset="0"/>
                <a:cs typeface="Times New Roman" panose="02020603050405020304" pitchFamily="18" charset="0"/>
              </a:rPr>
              <a:t>: Swarna Bharathi Institute of Science and Technology, Khammam</a:t>
            </a:r>
            <a:endParaRPr lang="en-IN" b="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9949204" cy="743448"/>
          </a:xfrm>
        </p:spPr>
        <p:txBody>
          <a:bodyPr>
            <a:normAutofit/>
          </a:bodyPr>
          <a:lstStyle/>
          <a:p>
            <a:r>
              <a:rPr lang="en-GB" sz="3200" dirty="0">
                <a:latin typeface="Times New Roman" panose="02020603050405020304" pitchFamily="18" charset="0"/>
                <a:cs typeface="Times New Roman" panose="02020603050405020304" pitchFamily="18" charset="0"/>
              </a:rPr>
              <a:t>Project Title – Seasonal Agriculture Performance Analysis</a:t>
            </a:r>
            <a:endParaRPr lang="en-IN" sz="3200"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634330"/>
            <a:ext cx="5602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AICTE STU ID </a:t>
            </a:r>
            <a:r>
              <a:rPr lang="en-US" dirty="0">
                <a:latin typeface="Times New Roman" panose="02020603050405020304" pitchFamily="18" charset="0"/>
                <a:cs typeface="Times New Roman" panose="02020603050405020304" pitchFamily="18" charset="0"/>
              </a:rPr>
              <a:t>: STU6644d969637b71715788137</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36764" y="2102230"/>
            <a:ext cx="6431280" cy="3607987"/>
          </a:xfrm>
        </p:spPr>
        <p:txBody>
          <a:bodyPr vert="horz" lIns="91440" tIns="45720" rIns="91440" bIns="45720" rtlCol="0" anchor="t">
            <a:normAutofit fontScale="70000" lnSpcReduction="20000"/>
          </a:bodyPr>
          <a:lstStyle/>
          <a:p>
            <a:pPr algn="just">
              <a:lnSpc>
                <a:spcPct val="100000"/>
              </a:lnSpc>
            </a:pPr>
            <a:r>
              <a:rPr lang="en-US" sz="2800"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389810" y="193039"/>
            <a:ext cx="9575283" cy="6077131"/>
          </a:xfrm>
        </p:spPr>
        <p:txBody>
          <a:bodyPr>
            <a:noAutofit/>
          </a:bodyPr>
          <a:lstStyle/>
          <a:p>
            <a:r>
              <a:rPr lang="en-GB" sz="2800" dirty="0">
                <a:latin typeface="Times New Roman" panose="02020603050405020304" pitchFamily="18" charset="0"/>
                <a:cs typeface="Times New Roman" panose="02020603050405020304" pitchFamily="18" charset="0"/>
              </a:rPr>
              <a:t>Project Description</a:t>
            </a:r>
            <a:br>
              <a:rPr lang="en-GB" sz="2800" b="0" dirty="0">
                <a:latin typeface="Times New Roman" panose="02020603050405020304" pitchFamily="18" charset="0"/>
                <a:cs typeface="Times New Roman" panose="02020603050405020304" pitchFamily="18" charset="0"/>
              </a:rPr>
            </a:b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The project focuses on analyzing agricultural performance across different seasons using a dataset containing 4,000 observations and 28 variables.</a:t>
            </a:r>
            <a:br>
              <a:rPr lang="en-IN" sz="2000" b="0" dirty="0">
                <a:latin typeface="Times New Roman" panose="02020603050405020304" pitchFamily="18" charset="0"/>
                <a:cs typeface="Times New Roman" panose="02020603050405020304" pitchFamily="18" charset="0"/>
              </a:rPr>
            </a:br>
            <a:br>
              <a:rPr lang="en-IN" sz="2000" b="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The analysis covers:</a:t>
            </a:r>
            <a:br>
              <a:rPr lang="en-IN" sz="200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1)Crop and seasonal performance</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2)Farm and geographical characteristics</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3)Rainfall, temperature, humidity, and sunlight</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4)Soil conditions and nutrient usage</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5)Irrigation and resource utilization</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6)Yield and production</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7)Market price, cost, revenue, and profit</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8)Water usage and water efficiency</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9)Disease and pest risk</a:t>
            </a:r>
            <a:br>
              <a:rPr lang="en-IN" sz="2000" b="0" dirty="0">
                <a:latin typeface="Times New Roman" panose="02020603050405020304" pitchFamily="18" charset="0"/>
                <a:cs typeface="Times New Roman" panose="02020603050405020304" pitchFamily="18" charset="0"/>
              </a:rPr>
            </a:b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The project uses data cleaning, exploratory data analysis, statistical analysis, correlation analysis, and visualizations to identify meaningful patterns and support evidence-based agricultural planning.</a:t>
            </a:r>
            <a:br>
              <a:rPr lang="en-IN" sz="2000" b="0" dirty="0">
                <a:latin typeface="Times New Roman" panose="02020603050405020304" pitchFamily="18" charset="0"/>
                <a:cs typeface="Times New Roman" panose="02020603050405020304" pitchFamily="18" charset="0"/>
              </a:rPr>
            </a:br>
            <a:br>
              <a:rPr lang="en-GB" sz="2000" b="0" dirty="0">
                <a:latin typeface="Times New Roman" panose="02020603050405020304" pitchFamily="18" charset="0"/>
                <a:cs typeface="Times New Roman" panose="02020603050405020304" pitchFamily="18" charset="0"/>
              </a:rPr>
            </a:br>
            <a:endParaRPr lang="en-IN" sz="2000" b="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55000" lnSpcReduction="20000"/>
          </a:bodyPr>
          <a:lstStyle/>
          <a:p>
            <a:pPr marL="0" indent="0" algn="just">
              <a:buNone/>
            </a:pPr>
            <a:r>
              <a:rPr lang="en-IN" sz="3600" dirty="0">
                <a:latin typeface="Times New Roman" panose="02020603050405020304" pitchFamily="18" charset="0"/>
                <a:cs typeface="Times New Roman" panose="02020603050405020304" pitchFamily="18" charset="0"/>
              </a:rPr>
              <a:t>The analysis can be useful for:</a:t>
            </a:r>
          </a:p>
          <a:p>
            <a:pPr lvl="0" algn="just"/>
            <a:r>
              <a:rPr lang="en-IN" sz="3600" b="1" dirty="0">
                <a:latin typeface="Times New Roman" panose="02020603050405020304" pitchFamily="18" charset="0"/>
                <a:cs typeface="Times New Roman" panose="02020603050405020304" pitchFamily="18" charset="0"/>
              </a:rPr>
              <a:t>Farmers</a:t>
            </a:r>
            <a:r>
              <a:rPr lang="en-IN" sz="3600" dirty="0">
                <a:latin typeface="Times New Roman" panose="02020603050405020304" pitchFamily="18" charset="0"/>
                <a:cs typeface="Times New Roman" panose="02020603050405020304" pitchFamily="18" charset="0"/>
              </a:rPr>
              <a:t> – to understand seasonal crop and resource performance.</a:t>
            </a:r>
          </a:p>
          <a:p>
            <a:pPr lvl="0" algn="just"/>
            <a:r>
              <a:rPr lang="en-IN" sz="3600" b="1" dirty="0">
                <a:latin typeface="Times New Roman" panose="02020603050405020304" pitchFamily="18" charset="0"/>
                <a:cs typeface="Times New Roman" panose="02020603050405020304" pitchFamily="18" charset="0"/>
              </a:rPr>
              <a:t>Agricultural planners</a:t>
            </a:r>
            <a:r>
              <a:rPr lang="en-IN" sz="3600" dirty="0">
                <a:latin typeface="Times New Roman" panose="02020603050405020304" pitchFamily="18" charset="0"/>
                <a:cs typeface="Times New Roman" panose="02020603050405020304" pitchFamily="18" charset="0"/>
              </a:rPr>
              <a:t> – to support seasonal planning and crop selection.</a:t>
            </a:r>
          </a:p>
          <a:p>
            <a:pPr lvl="0" algn="just"/>
            <a:r>
              <a:rPr lang="en-IN" sz="3600" b="1" dirty="0">
                <a:latin typeface="Times New Roman" panose="02020603050405020304" pitchFamily="18" charset="0"/>
                <a:cs typeface="Times New Roman" panose="02020603050405020304" pitchFamily="18" charset="0"/>
              </a:rPr>
              <a:t>Agricultural departments</a:t>
            </a:r>
            <a:r>
              <a:rPr lang="en-IN" sz="3600" dirty="0">
                <a:latin typeface="Times New Roman" panose="02020603050405020304" pitchFamily="18" charset="0"/>
                <a:cs typeface="Times New Roman" panose="02020603050405020304" pitchFamily="18" charset="0"/>
              </a:rPr>
              <a:t> – to identify seasonal and regional patterns.</a:t>
            </a:r>
          </a:p>
          <a:p>
            <a:pPr lvl="0" algn="just"/>
            <a:r>
              <a:rPr lang="en-IN" sz="3600" b="1" dirty="0">
                <a:latin typeface="Times New Roman" panose="02020603050405020304" pitchFamily="18" charset="0"/>
                <a:cs typeface="Times New Roman" panose="02020603050405020304" pitchFamily="18" charset="0"/>
              </a:rPr>
              <a:t>Agribusiness organizations</a:t>
            </a:r>
            <a:r>
              <a:rPr lang="en-IN" sz="3600" dirty="0">
                <a:latin typeface="Times New Roman" panose="02020603050405020304" pitchFamily="18" charset="0"/>
                <a:cs typeface="Times New Roman" panose="02020603050405020304" pitchFamily="18" charset="0"/>
              </a:rPr>
              <a:t> – to evaluate production and profitability.</a:t>
            </a:r>
          </a:p>
          <a:p>
            <a:pPr lvl="0" algn="just"/>
            <a:r>
              <a:rPr lang="en-IN" sz="3600" b="1" dirty="0">
                <a:latin typeface="Times New Roman" panose="02020603050405020304" pitchFamily="18" charset="0"/>
                <a:cs typeface="Times New Roman" panose="02020603050405020304" pitchFamily="18" charset="0"/>
              </a:rPr>
              <a:t>Researchers and analysts</a:t>
            </a:r>
            <a:r>
              <a:rPr lang="en-IN" sz="3600" dirty="0">
                <a:latin typeface="Times New Roman" panose="02020603050405020304" pitchFamily="18" charset="0"/>
                <a:cs typeface="Times New Roman" panose="02020603050405020304" pitchFamily="18" charset="0"/>
              </a:rPr>
              <a:t> – to study relationships between environmental conditions and agricultural outcomes.</a:t>
            </a:r>
          </a:p>
          <a:p>
            <a:pPr lvl="0" algn="just"/>
            <a:r>
              <a:rPr lang="en-IN" sz="3600" b="1" dirty="0">
                <a:latin typeface="Times New Roman" panose="02020603050405020304" pitchFamily="18" charset="0"/>
                <a:cs typeface="Times New Roman" panose="02020603050405020304" pitchFamily="18" charset="0"/>
              </a:rPr>
              <a:t>Decision-makers</a:t>
            </a:r>
            <a:r>
              <a:rPr lang="en-IN" sz="3600" dirty="0">
                <a:latin typeface="Times New Roman" panose="02020603050405020304" pitchFamily="18" charset="0"/>
                <a:cs typeface="Times New Roman" panose="02020603050405020304" pitchFamily="18" charset="0"/>
              </a:rPr>
              <a:t> – to support data-driven agricultural strategies.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latin typeface="Times New Roman" panose="02020603050405020304" pitchFamily="18" charset="0"/>
                <a:cs typeface="Times New Roman" panose="02020603050405020304" pitchFamily="18" charset="0"/>
              </a:rPr>
              <a:t>WHO ARE THE END USERS?</a:t>
            </a:r>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164203" y="3781748"/>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latin typeface="Times New Roman" panose="02020603050405020304" pitchFamily="18" charset="0"/>
                <a:cs typeface="Times New Roman" panose="02020603050405020304" pitchFamily="18" charset="0"/>
              </a:rPr>
              <a:t>Technology Used</a:t>
            </a:r>
          </a:p>
        </p:txBody>
      </p:sp>
      <p:sp>
        <p:nvSpPr>
          <p:cNvPr id="11" name="TextBox 10">
            <a:extLst>
              <a:ext uri="{FF2B5EF4-FFF2-40B4-BE49-F238E27FC236}">
                <a16:creationId xmlns:a16="http://schemas.microsoft.com/office/drawing/2014/main" id="{F8EB4FA4-817C-E947-51FE-4B85CAB2924F}"/>
              </a:ext>
            </a:extLst>
          </p:cNvPr>
          <p:cNvSpPr txBox="1"/>
          <p:nvPr/>
        </p:nvSpPr>
        <p:spPr>
          <a:xfrm>
            <a:off x="2198632" y="1278384"/>
            <a:ext cx="3460829" cy="3170099"/>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Programming &amp; Analysis</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Python</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Pandas</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NumPy</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SciPy</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Data Visualization</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Matplotlib</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Seaborn</a:t>
            </a:r>
          </a:p>
          <a:p>
            <a:endParaRPr lang="en-IN" sz="2000" dirty="0"/>
          </a:p>
        </p:txBody>
      </p:sp>
      <p:sp>
        <p:nvSpPr>
          <p:cNvPr id="12" name="TextBox 11">
            <a:extLst>
              <a:ext uri="{FF2B5EF4-FFF2-40B4-BE49-F238E27FC236}">
                <a16:creationId xmlns:a16="http://schemas.microsoft.com/office/drawing/2014/main" id="{1D5F86A0-4C3E-10E5-CD37-EF4B947BF583}"/>
              </a:ext>
            </a:extLst>
          </p:cNvPr>
          <p:cNvSpPr txBox="1"/>
          <p:nvPr/>
        </p:nvSpPr>
        <p:spPr>
          <a:xfrm>
            <a:off x="6096000" y="1278384"/>
            <a:ext cx="3284376" cy="3416320"/>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Development Environment</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Google Colab</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Jupyter Notebook</a:t>
            </a:r>
          </a:p>
          <a:p>
            <a:pPr lvl="0"/>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Statistical Analysis</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Correlation Analysis</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One-Way ANOVA</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Outlier Analysis</a:t>
            </a:r>
          </a:p>
          <a:p>
            <a:pPr lvl="0"/>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Version Control</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GitHub</a:t>
            </a:r>
          </a:p>
          <a:p>
            <a:endParaRPr lang="en-IN" dirty="0"/>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 </a:t>
            </a:r>
            <a:endParaRPr lang="en-IN"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7210465B-9AB1-4E6B-DF95-F954C99F5EF3}"/>
              </a:ext>
            </a:extLst>
          </p:cNvPr>
          <p:cNvSpPr txBox="1"/>
          <p:nvPr/>
        </p:nvSpPr>
        <p:spPr>
          <a:xfrm>
            <a:off x="675958" y="1136093"/>
            <a:ext cx="5258312" cy="4801314"/>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Seasonal Performance</a:t>
            </a:r>
          </a:p>
          <a:p>
            <a:pPr algn="just"/>
            <a:r>
              <a:rPr lang="en-IN" dirty="0">
                <a:latin typeface="Times New Roman" panose="02020603050405020304" pitchFamily="18" charset="0"/>
                <a:cs typeface="Times New Roman" panose="02020603050405020304" pitchFamily="18" charset="0"/>
              </a:rPr>
              <a:t>The analysis compared agricultural performance across Kharif, Rabi, and Zaid seasons.</a:t>
            </a:r>
          </a:p>
          <a:p>
            <a:pPr algn="just"/>
            <a:r>
              <a:rPr lang="en-IN" b="1" dirty="0">
                <a:latin typeface="Times New Roman" panose="02020603050405020304" pitchFamily="18" charset="0"/>
                <a:cs typeface="Times New Roman" panose="02020603050405020304" pitchFamily="18" charset="0"/>
              </a:rPr>
              <a:t>Key Findings</a:t>
            </a:r>
          </a:p>
          <a:p>
            <a:pPr marL="285750" lvl="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Kharif</a:t>
            </a:r>
            <a:r>
              <a:rPr lang="en-IN" dirty="0">
                <a:latin typeface="Times New Roman" panose="02020603050405020304" pitchFamily="18" charset="0"/>
                <a:cs typeface="Times New Roman" panose="02020603050405020304" pitchFamily="18" charset="0"/>
              </a:rPr>
              <a:t> recorded the highest average yield: </a:t>
            </a:r>
            <a:r>
              <a:rPr lang="en-IN" b="1" dirty="0">
                <a:latin typeface="Times New Roman" panose="02020603050405020304" pitchFamily="18" charset="0"/>
                <a:cs typeface="Times New Roman" panose="02020603050405020304" pitchFamily="18" charset="0"/>
              </a:rPr>
              <a:t>5.63 tonnes/ha</a:t>
            </a:r>
            <a:r>
              <a:rPr lang="en-IN" dirty="0">
                <a:latin typeface="Times New Roman" panose="02020603050405020304" pitchFamily="18" charset="0"/>
                <a:cs typeface="Times New Roman" panose="02020603050405020304" pitchFamily="18" charset="0"/>
              </a:rPr>
              <a:t>.</a:t>
            </a:r>
          </a:p>
          <a:p>
            <a:pPr marL="285750" lvl="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Rabi</a:t>
            </a:r>
            <a:r>
              <a:rPr lang="en-IN" dirty="0">
                <a:latin typeface="Times New Roman" panose="02020603050405020304" pitchFamily="18" charset="0"/>
                <a:cs typeface="Times New Roman" panose="02020603050405020304" pitchFamily="18" charset="0"/>
              </a:rPr>
              <a:t> recorded an average yield of </a:t>
            </a:r>
            <a:r>
              <a:rPr lang="en-IN" b="1" dirty="0">
                <a:latin typeface="Times New Roman" panose="02020603050405020304" pitchFamily="18" charset="0"/>
                <a:cs typeface="Times New Roman" panose="02020603050405020304" pitchFamily="18" charset="0"/>
              </a:rPr>
              <a:t>5.04 tonnes/ha</a:t>
            </a:r>
            <a:r>
              <a:rPr lang="en-IN" dirty="0">
                <a:latin typeface="Times New Roman" panose="02020603050405020304" pitchFamily="18" charset="0"/>
                <a:cs typeface="Times New Roman" panose="02020603050405020304" pitchFamily="18" charset="0"/>
              </a:rPr>
              <a:t>.</a:t>
            </a:r>
          </a:p>
          <a:p>
            <a:pPr marL="285750" lvl="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Zaid</a:t>
            </a:r>
            <a:r>
              <a:rPr lang="en-IN" dirty="0">
                <a:latin typeface="Times New Roman" panose="02020603050405020304" pitchFamily="18" charset="0"/>
                <a:cs typeface="Times New Roman" panose="02020603050405020304" pitchFamily="18" charset="0"/>
              </a:rPr>
              <a:t> recorded an average yield of </a:t>
            </a:r>
            <a:r>
              <a:rPr lang="en-IN" b="1" dirty="0">
                <a:latin typeface="Times New Roman" panose="02020603050405020304" pitchFamily="18" charset="0"/>
                <a:cs typeface="Times New Roman" panose="02020603050405020304" pitchFamily="18" charset="0"/>
              </a:rPr>
              <a:t>4.64 tonnes/ha</a:t>
            </a:r>
            <a:r>
              <a:rPr lang="en-IN" dirty="0">
                <a:latin typeface="Times New Roman" panose="02020603050405020304" pitchFamily="18" charset="0"/>
                <a:cs typeface="Times New Roman" panose="02020603050405020304" pitchFamily="18" charset="0"/>
              </a:rPr>
              <a:t>.</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Kharif also recorded the highest average profitability.</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Seasonal differences were observed descriptively, but the ANOVA test did not find the differences in mean yield to be statistically significant.</a:t>
            </a:r>
          </a:p>
          <a:p>
            <a:pPr algn="just"/>
            <a:r>
              <a:rPr lang="en-IN" b="1" dirty="0">
                <a:latin typeface="Times New Roman" panose="02020603050405020304" pitchFamily="18" charset="0"/>
                <a:cs typeface="Times New Roman" panose="02020603050405020304" pitchFamily="18" charset="0"/>
              </a:rPr>
              <a:t>Insight</a:t>
            </a:r>
          </a:p>
          <a:p>
            <a:pPr algn="just"/>
            <a:r>
              <a:rPr lang="en-IN" dirty="0">
                <a:latin typeface="Times New Roman" panose="02020603050405020304" pitchFamily="18" charset="0"/>
                <a:cs typeface="Times New Roman" panose="02020603050405020304" pitchFamily="18" charset="0"/>
              </a:rPr>
              <a:t>Kharif showed the strongest overall descriptive performance among the three seasons.</a:t>
            </a:r>
          </a:p>
          <a:p>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E002C01-6422-E554-9EAC-5B0F138097DC}"/>
              </a:ext>
            </a:extLst>
          </p:cNvPr>
          <p:cNvPicPr>
            <a:picLocks noChangeAspect="1"/>
          </p:cNvPicPr>
          <p:nvPr/>
        </p:nvPicPr>
        <p:blipFill>
          <a:blip r:embed="rId3"/>
          <a:stretch>
            <a:fillRect/>
          </a:stretch>
        </p:blipFill>
        <p:spPr>
          <a:xfrm>
            <a:off x="6356842" y="1464048"/>
            <a:ext cx="5744962" cy="3992588"/>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 </a:t>
            </a:r>
            <a:endParaRPr lang="en-IN"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TextBox 10">
            <a:extLst>
              <a:ext uri="{FF2B5EF4-FFF2-40B4-BE49-F238E27FC236}">
                <a16:creationId xmlns:a16="http://schemas.microsoft.com/office/drawing/2014/main" id="{8BE0E669-166F-8927-C871-FB1DDA492C48}"/>
              </a:ext>
            </a:extLst>
          </p:cNvPr>
          <p:cNvSpPr txBox="1"/>
          <p:nvPr/>
        </p:nvSpPr>
        <p:spPr>
          <a:xfrm>
            <a:off x="554247" y="1396669"/>
            <a:ext cx="9317540" cy="4401205"/>
          </a:xfrm>
          <a:prstGeom prst="rect">
            <a:avLst/>
          </a:prstGeom>
          <a:noFill/>
        </p:spPr>
        <p:txBody>
          <a:bodyPr wrap="square" rtlCol="0">
            <a:spAutoFit/>
          </a:bodyPr>
          <a:lstStyle/>
          <a:p>
            <a:pPr algn="just"/>
            <a:r>
              <a:rPr lang="en-IN" sz="2000" b="1" dirty="0">
                <a:latin typeface="Times New Roman" panose="02020603050405020304" pitchFamily="18" charset="0"/>
                <a:cs typeface="Times New Roman" panose="02020603050405020304" pitchFamily="18" charset="0"/>
              </a:rPr>
              <a:t>Crop and Irrigation Analysis</a:t>
            </a:r>
          </a:p>
          <a:p>
            <a:pPr algn="just"/>
            <a:r>
              <a:rPr lang="en-IN" sz="2000" b="1" dirty="0">
                <a:latin typeface="Times New Roman" panose="02020603050405020304" pitchFamily="18" charset="0"/>
                <a:cs typeface="Times New Roman" panose="02020603050405020304" pitchFamily="18" charset="0"/>
              </a:rPr>
              <a:t>Crop Performance</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Sugarcane showed substantially higher yield levels than the other crops across seasons.</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Crop performance varied across different seasons.</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Crop-season comparison helps identify combinations with stronger performance.</a:t>
            </a:r>
          </a:p>
          <a:p>
            <a:pPr algn="just"/>
            <a:r>
              <a:rPr lang="en-IN" sz="2000" b="1" dirty="0">
                <a:latin typeface="Times New Roman" panose="02020603050405020304" pitchFamily="18" charset="0"/>
                <a:cs typeface="Times New Roman" panose="02020603050405020304" pitchFamily="18" charset="0"/>
              </a:rPr>
              <a:t>Irrigation Performance</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Irrigation methods showed differences in yield and water efficiency.</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Drip irrigation demonstrated strong average yield and water-efficiency performance.</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Rainfed farming recorded the highest average water efficiency.</a:t>
            </a:r>
          </a:p>
          <a:p>
            <a:pPr algn="just"/>
            <a:r>
              <a:rPr lang="en-IN" sz="2000" b="1" dirty="0">
                <a:latin typeface="Times New Roman" panose="02020603050405020304" pitchFamily="18" charset="0"/>
                <a:cs typeface="Times New Roman" panose="02020603050405020304" pitchFamily="18" charset="0"/>
              </a:rPr>
              <a:t>Insight</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Irrigation decisions should consider both </a:t>
            </a:r>
            <a:r>
              <a:rPr lang="en-IN" sz="2000" b="1" dirty="0">
                <a:latin typeface="Times New Roman" panose="02020603050405020304" pitchFamily="18" charset="0"/>
                <a:cs typeface="Times New Roman" panose="02020603050405020304" pitchFamily="18" charset="0"/>
              </a:rPr>
              <a:t>crop yield and water efficiency</a:t>
            </a:r>
            <a:r>
              <a:rPr lang="en-IN" sz="2000" dirty="0">
                <a:latin typeface="Times New Roman" panose="02020603050405020304" pitchFamily="18" charset="0"/>
                <a:cs typeface="Times New Roman" panose="02020603050405020304" pitchFamily="18" charset="0"/>
              </a:rPr>
              <a:t>, rather than yield alone.</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193040"/>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 </a:t>
            </a:r>
            <a:endParaRPr lang="en-IN"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A70E9297-30E1-6D5A-3A2F-FD5039CBD12A}"/>
              </a:ext>
            </a:extLst>
          </p:cNvPr>
          <p:cNvPicPr>
            <a:picLocks noChangeAspect="1"/>
          </p:cNvPicPr>
          <p:nvPr/>
        </p:nvPicPr>
        <p:blipFill>
          <a:blip r:embed="rId3"/>
          <a:stretch>
            <a:fillRect/>
          </a:stretch>
        </p:blipFill>
        <p:spPr>
          <a:xfrm>
            <a:off x="675957" y="1051120"/>
            <a:ext cx="8670111" cy="3389629"/>
          </a:xfrm>
          <a:prstGeom prst="rect">
            <a:avLst/>
          </a:prstGeom>
        </p:spPr>
      </p:pic>
      <p:pic>
        <p:nvPicPr>
          <p:cNvPr id="12" name="Picture 11">
            <a:extLst>
              <a:ext uri="{FF2B5EF4-FFF2-40B4-BE49-F238E27FC236}">
                <a16:creationId xmlns:a16="http://schemas.microsoft.com/office/drawing/2014/main" id="{3E62FBC0-167C-08F7-CCC4-991354213C10}"/>
              </a:ext>
            </a:extLst>
          </p:cNvPr>
          <p:cNvPicPr>
            <a:picLocks noChangeAspect="1"/>
          </p:cNvPicPr>
          <p:nvPr/>
        </p:nvPicPr>
        <p:blipFill>
          <a:blip r:embed="rId4"/>
          <a:stretch>
            <a:fillRect/>
          </a:stretch>
        </p:blipFill>
        <p:spPr>
          <a:xfrm>
            <a:off x="914402" y="4633789"/>
            <a:ext cx="7296504" cy="1838131"/>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256697" y="158048"/>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 </a:t>
            </a:r>
            <a:endParaRPr lang="en-IN"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TextBox 10">
            <a:extLst>
              <a:ext uri="{FF2B5EF4-FFF2-40B4-BE49-F238E27FC236}">
                <a16:creationId xmlns:a16="http://schemas.microsoft.com/office/drawing/2014/main" id="{0C4669B0-9421-743B-76C2-0F07EF367C0D}"/>
              </a:ext>
            </a:extLst>
          </p:cNvPr>
          <p:cNvSpPr txBox="1"/>
          <p:nvPr/>
        </p:nvSpPr>
        <p:spPr>
          <a:xfrm>
            <a:off x="472526" y="989045"/>
            <a:ext cx="9427254" cy="5078313"/>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Environmental &amp; Correlation Analysis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project investigated relationships between environmental conditions and agricultural yield.</a:t>
            </a:r>
          </a:p>
          <a:p>
            <a:pPr algn="just"/>
            <a:r>
              <a:rPr lang="en-IN" b="1" dirty="0">
                <a:latin typeface="Times New Roman" panose="02020603050405020304" pitchFamily="18" charset="0"/>
                <a:cs typeface="Times New Roman" panose="02020603050405020304" pitchFamily="18" charset="0"/>
              </a:rPr>
              <a:t>Variables analyzed</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Rainfall</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Temperature</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Humidity</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Soil conditions</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Nutrient usage</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Water usage</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Water efficiency</a:t>
            </a:r>
          </a:p>
          <a:p>
            <a:pPr algn="just"/>
            <a:r>
              <a:rPr lang="en-IN" b="1" dirty="0">
                <a:latin typeface="Times New Roman" panose="02020603050405020304" pitchFamily="18" charset="0"/>
                <a:cs typeface="Times New Roman" panose="02020603050405020304" pitchFamily="18" charset="0"/>
              </a:rPr>
              <a:t>Key Finding</a:t>
            </a:r>
          </a:p>
          <a:p>
            <a:pPr marL="28575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Water efficiency showed the strongest positive correlation with yield among the numerical variables analyzed, with a correlation of approximately 0.913.</a:t>
            </a: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Other environmental variables showed varying strengths of relationship with yield.</a:t>
            </a:r>
          </a:p>
          <a:p>
            <a:pPr algn="just"/>
            <a:r>
              <a:rPr lang="en-IN" b="1" dirty="0">
                <a:latin typeface="Times New Roman" panose="02020603050405020304" pitchFamily="18" charset="0"/>
                <a:cs typeface="Times New Roman" panose="02020603050405020304" pitchFamily="18" charset="0"/>
              </a:rPr>
              <a:t>Insight</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Efficient water utilization appears to be an important factor associated with higher agricultural yield in the dataset.</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 </a:t>
            </a:r>
            <a:endParaRPr lang="en-IN"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B1625D07-C2E1-F9E4-AA95-ED5D6D29007B}"/>
              </a:ext>
            </a:extLst>
          </p:cNvPr>
          <p:cNvPicPr>
            <a:picLocks noChangeAspect="1"/>
          </p:cNvPicPr>
          <p:nvPr/>
        </p:nvPicPr>
        <p:blipFill>
          <a:blip r:embed="rId3"/>
          <a:stretch>
            <a:fillRect/>
          </a:stretch>
        </p:blipFill>
        <p:spPr>
          <a:xfrm>
            <a:off x="2936727" y="1000708"/>
            <a:ext cx="6013747" cy="516449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353090-AE64-18AE-8351-83D5C2E1C0BA}"/>
              </a:ext>
            </a:extLst>
          </p:cNvPr>
          <p:cNvSpPr>
            <a:spLocks noGrp="1"/>
          </p:cNvSpPr>
          <p:nvPr>
            <p:ph type="title"/>
          </p:nvPr>
        </p:nvSpPr>
        <p:spPr>
          <a:xfrm>
            <a:off x="338850" y="68096"/>
            <a:ext cx="4275138" cy="830997"/>
          </a:xfrm>
        </p:spPr>
        <p:txBody>
          <a:bodyPr/>
          <a:lstStyle/>
          <a:p>
            <a:r>
              <a:rPr lang="en-US" dirty="0">
                <a:latin typeface="Times New Roman" panose="02020603050405020304" pitchFamily="18" charset="0"/>
                <a:cs typeface="Times New Roman" panose="02020603050405020304" pitchFamily="18" charset="0"/>
              </a:rPr>
              <a:t>RESULTS</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338EF86-2CD3-B7EA-7525-9CEEF3C5B1E9}"/>
              </a:ext>
            </a:extLst>
          </p:cNvPr>
          <p:cNvSpPr txBox="1"/>
          <p:nvPr/>
        </p:nvSpPr>
        <p:spPr>
          <a:xfrm>
            <a:off x="567450" y="899093"/>
            <a:ext cx="11057100" cy="5324535"/>
          </a:xfrm>
          <a:prstGeom prst="rect">
            <a:avLst/>
          </a:prstGeom>
          <a:noFill/>
        </p:spPr>
        <p:txBody>
          <a:bodyPr wrap="square" rtlCol="0">
            <a:spAutoFit/>
          </a:bodyPr>
          <a:lstStyle/>
          <a:p>
            <a:pPr algn="just"/>
            <a:r>
              <a:rPr lang="en-IN" sz="2000" b="1" dirty="0">
                <a:latin typeface="Times New Roman" panose="02020603050405020304" pitchFamily="18" charset="0"/>
                <a:cs typeface="Times New Roman" panose="02020603050405020304" pitchFamily="18" charset="0"/>
              </a:rPr>
              <a:t>Statistical Analysis</a:t>
            </a:r>
          </a:p>
          <a:p>
            <a:pPr algn="just"/>
            <a:r>
              <a:rPr lang="en-IN" sz="2000" b="1" dirty="0">
                <a:latin typeface="Times New Roman" panose="02020603050405020304" pitchFamily="18" charset="0"/>
                <a:cs typeface="Times New Roman" panose="02020603050405020304" pitchFamily="18" charset="0"/>
              </a:rPr>
              <a:t>One-Way ANOVA</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ANOVA test was performed to determine whether average agricultural yield differed significantly across Kharif, Rabi, and Zaid seasons.</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F-statistic:</a:t>
            </a:r>
            <a:r>
              <a:rPr lang="en-IN" sz="2000" dirty="0">
                <a:latin typeface="Times New Roman" panose="02020603050405020304" pitchFamily="18" charset="0"/>
                <a:cs typeface="Times New Roman" panose="02020603050405020304" pitchFamily="18" charset="0"/>
              </a:rPr>
              <a:t> </a:t>
            </a:r>
            <a:r>
              <a:rPr lang="en-IN" sz="2000" dirty="0"/>
              <a:t>1.5438804542488311</a:t>
            </a:r>
            <a:endParaRPr lang="en-IN" sz="20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p-value:</a:t>
            </a:r>
            <a:r>
              <a:rPr lang="en-IN" sz="2000" dirty="0">
                <a:latin typeface="Times New Roman" panose="02020603050405020304" pitchFamily="18" charset="0"/>
                <a:cs typeface="Times New Roman" panose="02020603050405020304" pitchFamily="18" charset="0"/>
              </a:rPr>
              <a:t> </a:t>
            </a:r>
            <a:r>
              <a:rPr lang="en-IN" sz="2000" dirty="0"/>
              <a:t>: 0.21367813841792296</a:t>
            </a:r>
            <a:endParaRPr lang="en-IN" sz="20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Significance level:</a:t>
            </a:r>
            <a:r>
              <a:rPr lang="en-IN" sz="2000" dirty="0">
                <a:latin typeface="Times New Roman" panose="02020603050405020304" pitchFamily="18" charset="0"/>
                <a:cs typeface="Times New Roman" panose="02020603050405020304" pitchFamily="18" charset="0"/>
              </a:rPr>
              <a:t> 0.05</a:t>
            </a:r>
          </a:p>
          <a:p>
            <a:pPr algn="just"/>
            <a:r>
              <a:rPr lang="en-IN" sz="2000" b="1" dirty="0">
                <a:latin typeface="Times New Roman" panose="02020603050405020304" pitchFamily="18" charset="0"/>
                <a:cs typeface="Times New Roman" panose="02020603050405020304" pitchFamily="18" charset="0"/>
              </a:rPr>
              <a:t>Interpretation</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Since </a:t>
            </a:r>
            <a:r>
              <a:rPr lang="en-IN" sz="2000" b="1" dirty="0">
                <a:latin typeface="Times New Roman" panose="02020603050405020304" pitchFamily="18" charset="0"/>
                <a:cs typeface="Times New Roman" panose="02020603050405020304" pitchFamily="18" charset="0"/>
              </a:rPr>
              <a:t>p &gt; 0.05</a:t>
            </a:r>
            <a:r>
              <a:rPr lang="en-IN" sz="2000" dirty="0">
                <a:latin typeface="Times New Roman" panose="02020603050405020304" pitchFamily="18" charset="0"/>
                <a:cs typeface="Times New Roman" panose="02020603050405020304" pitchFamily="18" charset="0"/>
              </a:rPr>
              <a:t>, the test does not provide sufficient evidence to conclude that the mean yield differs significantly across seasons.</a:t>
            </a:r>
          </a:p>
          <a:p>
            <a:pPr algn="just"/>
            <a:r>
              <a:rPr lang="en-IN" sz="2000" b="1" dirty="0">
                <a:latin typeface="Times New Roman" panose="02020603050405020304" pitchFamily="18" charset="0"/>
                <a:cs typeface="Times New Roman" panose="02020603050405020304" pitchFamily="18" charset="0"/>
              </a:rPr>
              <a:t>Overall Findings</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Kharif had the highest descriptive average yield.</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Sugarcane showed substantially higher yield performance.</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Water efficiency had the strongest positive correlation with yield.</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Profitability varied considerably across seasons.</a:t>
            </a:r>
          </a:p>
          <a:p>
            <a:pPr algn="just"/>
            <a:r>
              <a:rPr lang="en-IN" sz="2000" dirty="0">
                <a:latin typeface="Times New Roman" panose="02020603050405020304" pitchFamily="18" charset="0"/>
                <a:cs typeface="Times New Roman" panose="02020603050405020304" pitchFamily="18" charset="0"/>
              </a:rPr>
              <a:t>Outlier analysis identified unusual yield observations.</a:t>
            </a:r>
            <a:r>
              <a:rPr lang="en-IN" dirty="0"/>
              <a:t> </a:t>
            </a:r>
          </a:p>
          <a:p>
            <a:pPr lvl="0"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21866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C4972F6E-9A5E-D2B4-0103-37EB47088C35}"/>
              </a:ext>
            </a:extLst>
          </p:cNvPr>
          <p:cNvSpPr txBox="1"/>
          <p:nvPr/>
        </p:nvSpPr>
        <p:spPr>
          <a:xfrm>
            <a:off x="675957" y="1164264"/>
            <a:ext cx="7548465" cy="3170099"/>
          </a:xfrm>
          <a:prstGeom prst="rect">
            <a:avLst/>
          </a:prstGeom>
          <a:noFill/>
        </p:spPr>
        <p:txBody>
          <a:bodyPr wrap="square" rtlCol="0">
            <a:spAutoFit/>
          </a:bodyPr>
          <a:lstStyle/>
          <a:p>
            <a:pPr algn="just"/>
            <a:endParaRPr lang="en-IN" sz="20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project can be extended by:</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Incorporating agricultural data from multiple years.</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Developing machine learning models for crop-yield prediction.</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Building seasonal yield forecasting models.</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Studying long-term weather and climate patterns.</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Developing interactive dashboards for agricultural monitoring.</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Analyzing market-price fluctuations and their effect on profitability.</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Applying advanced statistical and machine learning techniques to identify major factors influencing agricultural performance.</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6910242"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hlinkClick r:id="rId3"/>
            <a:extLst>
              <a:ext uri="{FF2B5EF4-FFF2-40B4-BE49-F238E27FC236}">
                <a16:creationId xmlns:a16="http://schemas.microsoft.com/office/drawing/2014/main" id="{5F0B37E4-66B1-8633-7266-68B321742757}"/>
              </a:ext>
            </a:extLst>
          </p:cNvPr>
          <p:cNvSpPr txBox="1"/>
          <p:nvPr/>
        </p:nvSpPr>
        <p:spPr>
          <a:xfrm>
            <a:off x="942392" y="2497325"/>
            <a:ext cx="10300996" cy="369332"/>
          </a:xfrm>
          <a:prstGeom prst="rect">
            <a:avLst/>
          </a:prstGeom>
          <a:noFill/>
        </p:spPr>
        <p:txBody>
          <a:bodyPr wrap="square">
            <a:spAutoFit/>
          </a:bodyPr>
          <a:lstStyle/>
          <a:p>
            <a:r>
              <a:rPr lang="en-US" dirty="0"/>
              <a:t>https://github.com/Supriya-2604/Seasonal_Agriculture_Performance_Analysis.git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latin typeface="Times New Roman" panose="02020603050405020304" pitchFamily="18" charset="0"/>
                <a:cs typeface="Times New Roman" panose="02020603050405020304" pitchFamily="18" charset="0"/>
              </a:rPr>
              <a:t>VOIS Course completion certificate - </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91C4CA3C-08C7-A0AD-EE08-05019EA76C81}"/>
              </a:ext>
            </a:extLst>
          </p:cNvPr>
          <p:cNvPicPr>
            <a:picLocks noChangeAspect="1"/>
          </p:cNvPicPr>
          <p:nvPr/>
        </p:nvPicPr>
        <p:blipFill>
          <a:blip r:embed="rId3"/>
          <a:stretch>
            <a:fillRect/>
          </a:stretch>
        </p:blipFill>
        <p:spPr>
          <a:xfrm>
            <a:off x="2423207" y="1433761"/>
            <a:ext cx="6370872" cy="458763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2299128" y="2333792"/>
            <a:ext cx="6108760" cy="778856"/>
          </a:xfrm>
          <a:prstGeom prst="rect">
            <a:avLst/>
          </a:prstGeom>
        </p:spPr>
        <p:txBody>
          <a:bodyPr anchor="ctr">
            <a:normAutofit fontScale="90000"/>
          </a:bodyPr>
          <a:lstStyle/>
          <a:p>
            <a:pPr algn="ctr"/>
            <a:r>
              <a:rPr lang="en-US" sz="4800" b="1" dirty="0">
                <a:solidFill>
                  <a:schemeClr val="tx1"/>
                </a:solidFill>
                <a:latin typeface="Times New Roman" panose="02020603050405020304" pitchFamily="18" charset="0"/>
                <a:cs typeface="Times New Roman" panose="02020603050405020304" pitchFamily="18"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1435</TotalTime>
  <Words>832</Words>
  <Application>Microsoft Office PowerPoint</Application>
  <PresentationFormat>Widescreen</PresentationFormat>
  <Paragraphs>109</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Times New Roman</vt:lpstr>
      <vt:lpstr>Trebuchet MS</vt:lpstr>
      <vt:lpstr>Wingdings</vt:lpstr>
      <vt:lpstr>Wingdings 3</vt:lpstr>
      <vt:lpstr>Facet</vt:lpstr>
      <vt:lpstr>Project Title – Seasonal Agriculture Performance Analysis</vt:lpstr>
      <vt:lpstr>PROBLEM  STATEMENT</vt:lpstr>
      <vt:lpstr>Project Description  The project focuses on analyzing agricultural performance across different seasons using a dataset containing 4,000 observations and 28 variables.  The analysis covers: 1)Crop and seasonal performance 2)Farm and geographical characteristics 3)Rainfall, temperature, humidity, and sunlight 4)Soil conditions and nutrient usage 5)Irrigation and resource utilization 6)Yield and production 7)Market price, cost, revenue, and profit 8)Water usage and water efficiency 9)Disease and pest risk  The project uses data cleaning, exploratory data analysis, statistical analysis, correlation analysis, and visualizations to identify meaningful patterns and support evidence-based agricultural planning.  </vt:lpstr>
      <vt:lpstr>WHO ARE THE END USERS?</vt:lpstr>
      <vt:lpstr>Technology Used</vt:lpstr>
      <vt:lpstr>RESULTS </vt:lpstr>
      <vt:lpstr>RESULTS </vt:lpstr>
      <vt:lpstr>RESULTS </vt:lpstr>
      <vt:lpstr>RESULTS </vt:lpstr>
      <vt:lpstr>RESULTS </vt:lpstr>
      <vt:lpstr>RESULTS</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supriya enjam</cp:lastModifiedBy>
  <cp:revision>99</cp:revision>
  <dcterms:created xsi:type="dcterms:W3CDTF">2021-07-11T13:13:15Z</dcterms:created>
  <dcterms:modified xsi:type="dcterms:W3CDTF">2026-09-09T16:33:55Z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